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627F8-F3D0-6579-448A-511A64AEA33A}" v="76" dt="2026-05-31T12:59:44.686"/>
    <p1510:client id="{78BDF05C-4CB5-2D70-3CB8-7995D6CC0FF4}" v="188" dt="2026-05-31T12:45:38.359"/>
    <p1510:client id="{87409AE1-6F16-43C2-91A3-C7D1841014A7}" v="2402" dt="2026-05-31T12:47:28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B4A5B-19AF-42C7-AD83-944F7646F173}" type="datetimeFigureOut"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2AC95-68BC-4AC5-A146-DB0B441BB7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12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2AC95-68BC-4AC5-A146-DB0B441BB76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802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Script:</a:t>
            </a:r>
            <a:br>
              <a:rPr lang="en-US" dirty="0">
                <a:ea typeface="Calibri"/>
                <a:cs typeface="+mn-lt"/>
              </a:rPr>
            </a:br>
            <a:r>
              <a:rPr lang="en-US" dirty="0"/>
              <a:t>Thanks to the mathematical precision in MRI brain scans and consistency.</a:t>
            </a:r>
            <a:r>
              <a:rPr lang="en-US" dirty="0">
                <a:ea typeface="Calibri"/>
                <a:cs typeface="Calibri"/>
              </a:rPr>
              <a:t> We can easily apply the same feature extraction methodology, with near optimal input data, making it then possible to detect and classify various abnormalities, be it a tumor, lesion  within MRI brain scans. This can be a rigorous and rapid tool to aid in doctors identifying possibly </a:t>
            </a:r>
            <a:r>
              <a:rPr lang="en-US" dirty="0" err="1">
                <a:ea typeface="Calibri"/>
                <a:cs typeface="Calibri"/>
              </a:rPr>
              <a:t>life threatening</a:t>
            </a:r>
            <a:r>
              <a:rPr lang="en-US" dirty="0">
                <a:ea typeface="Calibri"/>
                <a:cs typeface="Calibri"/>
              </a:rPr>
              <a:t> illnesses.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2AC95-68BC-4AC5-A146-DB0B441BB769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16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8F6E-5842-3661-F812-283AFFCFA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AF8B2-87D8-051B-84BD-380B5C248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2E602-D812-E2A5-9120-CF03F4DE5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99AE3-5839-6370-F91F-0A575582C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3A45D-B43D-8BDD-A4B7-C0A6212DB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467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8C2D-D1AF-F03E-A3F6-AC29237A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F0913-3924-6FC3-7669-1A5065F84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149C3-4517-D2C3-EBDE-F833ABE42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14A3A-986F-0509-7CB8-15AE8BB3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D05B2-9062-E97A-9AD7-CB40EC48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934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6E34-21E1-15F7-AE5D-AC5CBEB5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F3B8B-E995-3E71-6CE0-3D462AE3D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17FF3-F23B-2E34-C286-24598385C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D60DF-A88B-E27D-5112-75901636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8E0C-D974-C1EC-3B90-A730E0FB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0685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4806-CEAA-073F-D2F6-9C719948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345B7-6EAC-67F6-07E8-FD6617B8C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6511D-52D8-B940-9D1B-314739CF4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2E2C8-F9C9-2984-47A8-3BC362F8C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DFAA3-1C38-11C6-97F6-E6B6455A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D65AB-4A66-5758-9494-7150C438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887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2FBF-3112-CA3B-602D-7E777322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F7E73-B022-7462-ECDC-64E9BFE92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2073E-35F9-65C7-7E32-D0C0BF61E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2B741-5EE8-66E6-71F4-7266EF0D1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E36AA-9DE8-915E-88F8-EEB3788B3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5BDA28-7F72-C01E-9306-9D9290FF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BF6F76-9ABD-8E56-BB64-2BC56E92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06BA03-A8BB-505A-7511-8948EB8B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68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73DD-2BD5-264C-D72E-C3E7EAB4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356D2-6EEA-5E49-05F9-0A53E0AF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69E413-839D-3F3D-5CB4-7C137070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D4B4A-DD36-7C91-5F91-29608357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42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BC27B-56DE-15A0-D05C-20558E7E0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A93F4-6AA9-40EC-D613-AC7C6E67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4948C-5A32-1D79-E3C3-DE66F2FA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782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16ED5-E1AC-7ABB-8DB2-7A6DBC80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5F722-4B65-6EEA-1337-840818988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F633D0-B677-8995-A76C-B6BECE142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8656C-61A6-6378-164D-E8F5E336B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91122-6230-C454-7CCD-9E6D8A4E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7CB58-65A0-2BDC-6C48-5029E90E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306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142DF-0454-A347-B0BF-39CF8D8A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E547F-5729-7B3E-F48E-362698390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EDE33-CC0B-F8A6-2D5E-B977DF7FD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6FD65-F769-12BF-2CE1-3BDE7207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880E8A-8883-A62E-6C23-4003EAA1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B4860-F2AD-5E85-7413-EC12386C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48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E2BC-E5B3-2655-AF6F-F52CB08D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F3E54-DF53-1619-7AF4-4F1BC27E1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20C41-1774-ADD1-6518-8A12F9FC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37AEA-A837-FDB1-5CD7-189FC42E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57F90-8F1C-FF23-9F9C-0DEDCFBA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76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2C29D2-828A-5C80-3D4C-30C0FB67E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DCB02-41A3-CDBE-266B-6AAE94868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176B2-77BC-ACF4-6747-7F75D4AE2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39D31-28E6-9722-6144-7749D3FF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ACA7B-66F4-CC37-D9E0-10D0D0D7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715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7740A-AD25-9F38-55F2-128E47002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D9446-2CA4-C3A2-D13D-39E352E75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A0E75-1122-BF69-9CC6-C7EEFDD39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7F49A-1FCE-4D67-80AE-6896A750DCA1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636E1-29E3-F615-8000-64C3AB30E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9F4EA-6650-6E3C-50A2-2B7940470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AAAF3-07AB-484F-9B9C-12ECDD8AAD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223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33A08-8D84-C939-E8F9-D8EEA3F33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152" y="643467"/>
            <a:ext cx="5012900" cy="45671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AU" sz="4400" b="1">
                <a:latin typeface="Aptos"/>
              </a:rPr>
              <a:t>Eigenface Feature Detection : Developing a Rudimentary Moustache Detector</a:t>
            </a:r>
            <a:endParaRPr lang="en-US" sz="44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82559-736C-7D7A-4CD8-7BA523EB3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150" y="5338040"/>
            <a:ext cx="4620584" cy="77549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AU">
                <a:ea typeface="+mn-lt"/>
                <a:cs typeface="+mn-lt"/>
              </a:rPr>
              <a:t>Kurt Cook, Darius McLean, Zhenghong Shen, Jaiden Thomas</a:t>
            </a:r>
            <a:endParaRPr lang="en-US"/>
          </a:p>
        </p:txBody>
      </p:sp>
      <p:pic>
        <p:nvPicPr>
          <p:cNvPr id="4" name="Picture 3" descr="A collage of images of a person&amp;#39;s face&#10;&#10;AI-generated content may be incorrect.">
            <a:extLst>
              <a:ext uri="{FF2B5EF4-FFF2-40B4-BE49-F238E27FC236}">
                <a16:creationId xmlns:a16="http://schemas.microsoft.com/office/drawing/2014/main" id="{51F0C7D0-98F7-D32C-EBFD-214397924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3" r="-2" b="-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8128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1E49-FFBD-C9D0-D205-001836D9B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296" y="166934"/>
            <a:ext cx="10515600" cy="1325563"/>
          </a:xfrm>
        </p:spPr>
        <p:txBody>
          <a:bodyPr/>
          <a:lstStyle/>
          <a:p>
            <a:r>
              <a:rPr lang="en-US"/>
              <a:t>Mathematical concepts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1FAE-0038-741F-8E43-B1CEB29E5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32" y="1234281"/>
            <a:ext cx="10515600" cy="4351338"/>
          </a:xfrm>
        </p:spPr>
        <p:txBody>
          <a:bodyPr/>
          <a:lstStyle/>
          <a:p>
            <a:r>
              <a:rPr lang="en-US"/>
              <a:t>PCA (Principal component analysis) and Eigenfaces (EF) were used to detect the moustache from a large data set.</a:t>
            </a:r>
          </a:p>
          <a:p>
            <a:r>
              <a:rPr lang="en-US"/>
              <a:t>Code on MATLAB was written for detection of the faces, the process: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ADDDB8-6586-338B-64B5-251DCF838E21}"/>
              </a:ext>
            </a:extLst>
          </p:cNvPr>
          <p:cNvSpPr/>
          <p:nvPr/>
        </p:nvSpPr>
        <p:spPr>
          <a:xfrm>
            <a:off x="1716024" y="3565962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873FD7-15A2-7035-5433-AD94E80D78A3}"/>
              </a:ext>
            </a:extLst>
          </p:cNvPr>
          <p:cNvSpPr txBox="1"/>
          <p:nvPr/>
        </p:nvSpPr>
        <p:spPr>
          <a:xfrm>
            <a:off x="2029968" y="3816628"/>
            <a:ext cx="210312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Upload Face Image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40AD23-F704-9207-C246-CC871EE0BCC3}"/>
              </a:ext>
            </a:extLst>
          </p:cNvPr>
          <p:cNvSpPr/>
          <p:nvPr/>
        </p:nvSpPr>
        <p:spPr>
          <a:xfrm>
            <a:off x="4931664" y="3550949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CDFEB2-6622-4C64-863E-0D608EC01DBE}"/>
              </a:ext>
            </a:extLst>
          </p:cNvPr>
          <p:cNvSpPr txBox="1"/>
          <p:nvPr/>
        </p:nvSpPr>
        <p:spPr>
          <a:xfrm>
            <a:off x="5548884" y="3768619"/>
            <a:ext cx="158191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Mean Centre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2FD7AC-C3BC-8DE0-9952-5F3E18163AEF}"/>
              </a:ext>
            </a:extLst>
          </p:cNvPr>
          <p:cNvSpPr/>
          <p:nvPr/>
        </p:nvSpPr>
        <p:spPr>
          <a:xfrm>
            <a:off x="8100060" y="3561646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58D3C0-4846-1837-AA9E-CC3685C2031C}"/>
              </a:ext>
            </a:extLst>
          </p:cNvPr>
          <p:cNvSpPr txBox="1"/>
          <p:nvPr/>
        </p:nvSpPr>
        <p:spPr>
          <a:xfrm>
            <a:off x="8369808" y="3783632"/>
            <a:ext cx="2426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Composed into SVD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D8C6C2-5C51-A4F1-30FC-F4459E26570D}"/>
              </a:ext>
            </a:extLst>
          </p:cNvPr>
          <p:cNvSpPr/>
          <p:nvPr/>
        </p:nvSpPr>
        <p:spPr>
          <a:xfrm>
            <a:off x="8100060" y="4897001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633929B-4954-F1CC-EE65-FC302BB7BEF5}"/>
              </a:ext>
            </a:extLst>
          </p:cNvPr>
          <p:cNvSpPr/>
          <p:nvPr/>
        </p:nvSpPr>
        <p:spPr>
          <a:xfrm>
            <a:off x="4910328" y="4866792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A7EAE5-5645-B5CB-561F-1CC9D853C613}"/>
              </a:ext>
            </a:extLst>
          </p:cNvPr>
          <p:cNvSpPr/>
          <p:nvPr/>
        </p:nvSpPr>
        <p:spPr>
          <a:xfrm>
            <a:off x="1673352" y="4897001"/>
            <a:ext cx="2816352" cy="804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A7066-223E-55EE-A6EA-6397D3D39A99}"/>
              </a:ext>
            </a:extLst>
          </p:cNvPr>
          <p:cNvSpPr txBox="1"/>
          <p:nvPr/>
        </p:nvSpPr>
        <p:spPr>
          <a:xfrm>
            <a:off x="8362569" y="4969822"/>
            <a:ext cx="2426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Take Eigenface vector (Column vector  of U)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C80D0C-5B71-2DB1-98B1-D510753BA065}"/>
              </a:ext>
            </a:extLst>
          </p:cNvPr>
          <p:cNvSpPr txBox="1"/>
          <p:nvPr/>
        </p:nvSpPr>
        <p:spPr>
          <a:xfrm>
            <a:off x="5294376" y="5084462"/>
            <a:ext cx="193929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Projection Score</a:t>
            </a:r>
            <a:endParaRPr lang="en-AU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7520B6-EF38-0887-2CC0-8845BD9A6594}"/>
              </a:ext>
            </a:extLst>
          </p:cNvPr>
          <p:cNvSpPr txBox="1"/>
          <p:nvPr/>
        </p:nvSpPr>
        <p:spPr>
          <a:xfrm>
            <a:off x="1868424" y="5114671"/>
            <a:ext cx="242620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</a:rPr>
              <a:t>Classification</a:t>
            </a:r>
            <a:endParaRPr lang="en-AU">
              <a:solidFill>
                <a:schemeClr val="bg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E95D7D9-5FA3-B577-D66F-E71B493A2A10}"/>
              </a:ext>
            </a:extLst>
          </p:cNvPr>
          <p:cNvCxnSpPr>
            <a:cxnSpLocks/>
          </p:cNvCxnSpPr>
          <p:nvPr/>
        </p:nvCxnSpPr>
        <p:spPr>
          <a:xfrm>
            <a:off x="4553712" y="3963982"/>
            <a:ext cx="320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2FBE692-F557-02EF-B762-9262E3D39EF1}"/>
              </a:ext>
            </a:extLst>
          </p:cNvPr>
          <p:cNvCxnSpPr>
            <a:cxnSpLocks/>
          </p:cNvCxnSpPr>
          <p:nvPr/>
        </p:nvCxnSpPr>
        <p:spPr>
          <a:xfrm>
            <a:off x="7773733" y="3988372"/>
            <a:ext cx="3263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FE3E44D-F67B-C2A3-BBD9-D4566C820B6B}"/>
              </a:ext>
            </a:extLst>
          </p:cNvPr>
          <p:cNvCxnSpPr>
            <a:cxnSpLocks/>
          </p:cNvCxnSpPr>
          <p:nvPr/>
        </p:nvCxnSpPr>
        <p:spPr>
          <a:xfrm>
            <a:off x="9528429" y="4427816"/>
            <a:ext cx="0" cy="438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09FEE91-6CDC-7D71-8E53-B23E0EA5F816}"/>
              </a:ext>
            </a:extLst>
          </p:cNvPr>
          <p:cNvCxnSpPr>
            <a:cxnSpLocks/>
          </p:cNvCxnSpPr>
          <p:nvPr/>
        </p:nvCxnSpPr>
        <p:spPr>
          <a:xfrm flipH="1">
            <a:off x="7756398" y="5258595"/>
            <a:ext cx="317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5441266-EECA-127D-E8F8-BF141F52353A}"/>
              </a:ext>
            </a:extLst>
          </p:cNvPr>
          <p:cNvCxnSpPr>
            <a:cxnSpLocks/>
          </p:cNvCxnSpPr>
          <p:nvPr/>
        </p:nvCxnSpPr>
        <p:spPr>
          <a:xfrm flipH="1">
            <a:off x="4489704" y="5274089"/>
            <a:ext cx="384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7A1D771-43F0-9F50-1D3A-4F35496EF57C}"/>
              </a:ext>
            </a:extLst>
          </p:cNvPr>
          <p:cNvSpPr/>
          <p:nvPr/>
        </p:nvSpPr>
        <p:spPr>
          <a:xfrm>
            <a:off x="2926080" y="3203554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48CFBBB-98E2-D3BF-5D61-1B2781B4B6AF}"/>
              </a:ext>
            </a:extLst>
          </p:cNvPr>
          <p:cNvSpPr/>
          <p:nvPr/>
        </p:nvSpPr>
        <p:spPr>
          <a:xfrm>
            <a:off x="5953125" y="3177099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  <a:endParaRPr lang="en-AU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1A2BA27-5CD7-01F0-33BA-93A8221B8753}"/>
              </a:ext>
            </a:extLst>
          </p:cNvPr>
          <p:cNvSpPr/>
          <p:nvPr/>
        </p:nvSpPr>
        <p:spPr>
          <a:xfrm>
            <a:off x="9247632" y="3211909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3</a:t>
            </a:r>
            <a:endParaRPr lang="en-AU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B0195D4-D983-54D1-0ADB-B4C94C3456D8}"/>
              </a:ext>
            </a:extLst>
          </p:cNvPr>
          <p:cNvSpPr/>
          <p:nvPr/>
        </p:nvSpPr>
        <p:spPr>
          <a:xfrm>
            <a:off x="9217533" y="5739068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4</a:t>
            </a:r>
            <a:endParaRPr lang="en-AU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AE95BB4-242E-FC07-D12F-19D39BDF6F14}"/>
              </a:ext>
            </a:extLst>
          </p:cNvPr>
          <p:cNvSpPr/>
          <p:nvPr/>
        </p:nvSpPr>
        <p:spPr>
          <a:xfrm>
            <a:off x="5953125" y="5774563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5</a:t>
            </a:r>
            <a:endParaRPr lang="en-AU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AE95BB4-242E-FC07-D12F-19D39BDF6F14}"/>
              </a:ext>
            </a:extLst>
          </p:cNvPr>
          <p:cNvSpPr/>
          <p:nvPr/>
        </p:nvSpPr>
        <p:spPr>
          <a:xfrm>
            <a:off x="2670429" y="5826225"/>
            <a:ext cx="621792" cy="306382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6</a:t>
            </a:r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EB1D4-A8BD-74A6-E85A-C786A9B74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79" y="1092594"/>
            <a:ext cx="3295650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10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9ED8-3875-5D96-7497-8B37420E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Moustache Detection</a:t>
            </a:r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5E7320-E560-E377-924E-8CDBD8B499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Tx/>
                  <a:buChar char="-"/>
                </a:pPr>
                <a:r>
                  <a:rPr lang="en-US" sz="2400"/>
                  <a:t>Take EF 13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b="0"/>
                  <a:t>) </a:t>
                </a:r>
                <a:r>
                  <a:rPr lang="en-US" sz="2400"/>
                  <a:t>below on the right, which appears to represent features, each centered face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) was projected onto this, obtaining similarity score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/>
                  <a:t> with higher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/>
                  <a:t> indicating stronger characteristics. </a:t>
                </a:r>
              </a:p>
              <a:p>
                <a:pPr>
                  <a:buFontTx/>
                  <a:buChar char="-"/>
                </a:pPr>
                <a:r>
                  <a:rPr lang="en-US" sz="2400"/>
                  <a:t>A threshold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b="0"/>
                  <a:t> was chosen from training data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b="0"/>
                  <a:t> to be compared with, where: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→ </m:t>
                    </m:r>
                  </m:oMath>
                </a14:m>
                <a:r>
                  <a:rPr lang="en-US" sz="2400" b="0">
                    <a:latin typeface="+mj-lt"/>
                  </a:rPr>
                  <a:t>Moustache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0">
                    <a:latin typeface="+mj-lt"/>
                  </a:rPr>
                  <a:t> No Moustache</a:t>
                </a:r>
              </a:p>
              <a:p>
                <a:pPr marL="0" indent="0" algn="ctr">
                  <a:buNone/>
                </a:pPr>
                <a:r>
                  <a:rPr lang="en-US" sz="2400">
                    <a:latin typeface="+mj-lt"/>
                  </a:rPr>
                  <a:t>- This was used as criteria for detection of all other faces which came out to 89.1% accuracy</a:t>
                </a:r>
                <a:endParaRPr lang="en-US" sz="2400" b="0">
                  <a:latin typeface="+mj-lt"/>
                </a:endParaRPr>
              </a:p>
              <a:p>
                <a:pPr marL="0" indent="0" algn="ctr">
                  <a:buNone/>
                </a:pPr>
                <a:endParaRPr lang="en-US" b="0"/>
              </a:p>
              <a:p>
                <a:pPr>
                  <a:buFontTx/>
                  <a:buChar char="-"/>
                </a:pPr>
                <a:endParaRPr lang="en-US" b="0"/>
              </a:p>
              <a:p>
                <a:pPr>
                  <a:buFontTx/>
                  <a:buChar char="-"/>
                </a:pPr>
                <a:endParaRPr lang="en-US" b="0"/>
              </a:p>
              <a:p>
                <a:pPr>
                  <a:buFontTx/>
                  <a:buChar char="-"/>
                </a:pPr>
                <a:endParaRPr lang="en-US"/>
              </a:p>
              <a:p>
                <a:pPr marL="0" indent="0">
                  <a:buNone/>
                </a:pPr>
                <a:endParaRPr lang="en-AU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5E7320-E560-E377-924E-8CDBD8B499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C660CE63-15AF-5318-961E-751C65663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14" y="5279824"/>
            <a:ext cx="1401055" cy="142709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5" name="Picture 4" descr="A person with a mustache&#10;&#10;AI-generated content may be incorrect.">
            <a:extLst>
              <a:ext uri="{FF2B5EF4-FFF2-40B4-BE49-F238E27FC236}">
                <a16:creationId xmlns:a16="http://schemas.microsoft.com/office/drawing/2014/main" id="{EB0533F0-8E2E-9C1C-CBC4-3620587A1F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170"/>
          <a:stretch>
            <a:fillRect/>
          </a:stretch>
        </p:blipFill>
        <p:spPr>
          <a:xfrm>
            <a:off x="10022328" y="5282239"/>
            <a:ext cx="1335782" cy="1427098"/>
          </a:xfrm>
          <a:prstGeom prst="rect">
            <a:avLst/>
          </a:prstGeom>
        </p:spPr>
      </p:pic>
      <p:pic>
        <p:nvPicPr>
          <p:cNvPr id="6" name="Picture 5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259C70A7-33F3-6B0C-2B13-891A8626FC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621" y="5281152"/>
            <a:ext cx="1159038" cy="1420760"/>
          </a:xfrm>
          <a:prstGeom prst="rect">
            <a:avLst/>
          </a:prstGeom>
        </p:spPr>
      </p:pic>
      <p:pic>
        <p:nvPicPr>
          <p:cNvPr id="7" name="Picture 6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EFE39793-561A-C1EA-2F67-25446ABBB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899" y="5279001"/>
            <a:ext cx="1251154" cy="1425062"/>
          </a:xfrm>
          <a:prstGeom prst="rect">
            <a:avLst/>
          </a:prstGeom>
        </p:spPr>
      </p:pic>
      <p:pic>
        <p:nvPicPr>
          <p:cNvPr id="8" name="Picture 7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917A2DFC-B9F4-02C4-2B25-BDC28423C1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4367" y="5281152"/>
            <a:ext cx="1146686" cy="1420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724340-4F0B-BCEE-64D6-6AD99F5470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965" y="1327509"/>
            <a:ext cx="3295650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52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008A-169A-17A5-85EF-42EC3F82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3877"/>
            <a:ext cx="7875006" cy="1619801"/>
          </a:xfrm>
        </p:spPr>
        <p:txBody>
          <a:bodyPr/>
          <a:lstStyle/>
          <a:p>
            <a:r>
              <a:rPr lang="en-AU"/>
              <a:t>Adapting to Use MRI </a:t>
            </a:r>
            <a:r>
              <a:rPr lang="en-AU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F287-AEFF-7116-D4E5-BFE13F08D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AU"/>
          </a:p>
          <a:p>
            <a:endParaRPr lang="en-AU"/>
          </a:p>
        </p:txBody>
      </p:sp>
      <p:pic>
        <p:nvPicPr>
          <p:cNvPr id="4" name="Picture 3" descr="A close up of a person&amp;#39;s face&#10;&#10;AI-generated content may be incorrect.">
            <a:extLst>
              <a:ext uri="{FF2B5EF4-FFF2-40B4-BE49-F238E27FC236}">
                <a16:creationId xmlns:a16="http://schemas.microsoft.com/office/drawing/2014/main" id="{95B4CFA7-D876-4F97-2217-4154A2A9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528" y="3026785"/>
            <a:ext cx="2748395" cy="279948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5" name="Picture 4" descr="The brains behind clinical 7T MRI">
            <a:extLst>
              <a:ext uri="{FF2B5EF4-FFF2-40B4-BE49-F238E27FC236}">
                <a16:creationId xmlns:a16="http://schemas.microsoft.com/office/drawing/2014/main" id="{2F1EDA7E-D603-054C-2F93-BFC7721B2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651" y="3027219"/>
            <a:ext cx="2770909" cy="28124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58E40391-AECD-AD53-A7C5-7E7156147DC4}"/>
              </a:ext>
            </a:extLst>
          </p:cNvPr>
          <p:cNvSpPr/>
          <p:nvPr/>
        </p:nvSpPr>
        <p:spPr>
          <a:xfrm>
            <a:off x="5309034" y="3893127"/>
            <a:ext cx="1662545" cy="831272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4BDB0-DE9D-0D2F-3468-51B709FB8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146" y="1243485"/>
            <a:ext cx="3295650" cy="8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Eigenface Feature Detection : Developing a Rudimentary Moustache Detector</vt:lpstr>
      <vt:lpstr>Mathematical concepts</vt:lpstr>
      <vt:lpstr>Moustache Detection</vt:lpstr>
      <vt:lpstr>Adapting to Use MRI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Zhenghong Shen</dc:creator>
  <cp:revision>95</cp:revision>
  <dcterms:created xsi:type="dcterms:W3CDTF">2026-05-31T12:11:42Z</dcterms:created>
  <dcterms:modified xsi:type="dcterms:W3CDTF">2026-05-31T12:59:56Z</dcterms:modified>
</cp:coreProperties>
</file>